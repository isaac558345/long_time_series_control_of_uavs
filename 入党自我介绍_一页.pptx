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竞选副书记讲解稿（大约两分钟）。红字“请填写”先改成事实再讲。</a:t>
            </a:r>
          </a:p>
          <a:p/>
          <a:p>
            <a:r>
              <a:t>各位同志：</a:t>
            </a:r>
          </a:p>
          <a:p>
            <a:r>
              <a:t>我竞选党支部副书记，先用两分钟介绍自己。</a:t>
            </a:r>
          </a:p>
          <a:p/>
          <a:p>
            <a:r>
              <a:t>我叫【姓名】，【性别】，【民族】，专业是【专业】，中共党员。我于【入党时间】加入中国共产党，于【转正时间】转正。</a:t>
            </a:r>
          </a:p>
          <a:p/>
          <a:p>
            <a:r>
              <a:t>我曾担任班级组织委员。任职期间，我协助班级做好推优和入党积极分子的培养联系，了解同学的思想状况，把组织交办的事项按时办完。这段经历让我熟悉发展党员的基本程序，也让我习惯按程序办事、对同学负责。【如需补充，可加上任职起止时间和所在班级】。</a:t>
            </a:r>
          </a:p>
          <a:p/>
          <a:p>
            <a:r>
              <a:t>我竞选党支部副书记，是希望在书记带领下，把班级组织委员的经验用到支部。如果当选，我会协助做好党员发展、教育和管理，把组织生活落到实处，及时把同学的情况向支部反映。</a:t>
            </a:r>
          </a:p>
          <a:p/>
          <a:p>
            <a:r>
              <a:t>我的优势是熟悉推优和发展党员的程序，交办的事愿意跟到办完。不足是主动沟通还不够，理论学习还要更系统，支部工作也不能只靠班级经验。</a:t>
            </a:r>
          </a:p>
          <a:p/>
          <a:p>
            <a:r>
              <a:t>请同志们批评监督。我的介绍完了，谢谢大家。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32688"/>
          </a:xfrm>
          <a:prstGeom prst="rect">
            <a:avLst/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32688"/>
            <a:ext cx="12191695" cy="25603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958291"/>
            <a:ext cx="12191695" cy="10972"/>
          </a:xfrm>
          <a:prstGeom prst="rect">
            <a:avLst/>
          </a:prstGeom>
          <a:solidFill>
            <a:srgbClr val="6E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46304"/>
            <a:ext cx="7498079" cy="475488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竞选副书记自我介绍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603504"/>
            <a:ext cx="7863840" cy="256032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 lang="zh-CN" altLang="en-US">
                <a:solidFill>
                  <a:srgbClr val="C4A15A"/>
                </a:solidFill>
                <a:latin typeface="微软雅黑"/>
                <a:ea typeface="微软雅黑"/>
                <a:cs typeface="微软雅黑"/>
              </a:rPr>
              <a:t>发言顺序：基本情况　→　组织委员经历　→　为何竞选　→　如果当选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56032"/>
            <a:ext cx="3429000" cy="43891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 lang="zh-CN" altLang="en-US">
                <a:solidFill>
                  <a:srgbClr val="C4A15A"/>
                </a:solidFill>
                <a:latin typeface="微软雅黑"/>
                <a:ea typeface="微软雅黑"/>
                <a:cs typeface="微软雅黑"/>
              </a:rPr>
              <a:t>支部选举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1147572"/>
            <a:ext cx="3858768" cy="3584448"/>
          </a:xfrm>
          <a:prstGeom prst="roundRect">
            <a:avLst>
              <a:gd name="adj" fmla="val 5000"/>
            </a:avLst>
          </a:prstGeom>
          <a:solidFill>
            <a:srgbClr val="E3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2608" y="1115568"/>
            <a:ext cx="3858768" cy="3584448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92608" y="1115568"/>
            <a:ext cx="3858768" cy="384048"/>
          </a:xfrm>
          <a:prstGeom prst="roundRect">
            <a:avLst>
              <a:gd name="adj" fmla="val 8000"/>
            </a:avLst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2608" y="1371600"/>
            <a:ext cx="3858768" cy="128016"/>
          </a:xfrm>
          <a:prstGeom prst="rect">
            <a:avLst/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" y="1161288"/>
            <a:ext cx="3566160" cy="310896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一、基本情况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591056"/>
            <a:ext cx="1005840" cy="219456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5E544C"/>
                </a:solidFill>
                <a:latin typeface="微软雅黑"/>
                <a:ea typeface="微软雅黑"/>
                <a:cs typeface="微软雅黑"/>
              </a:rPr>
              <a:t>姓名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1536192"/>
            <a:ext cx="2514600" cy="36576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 lang="zh-CN" altLang="en-US">
                <a:solidFill>
                  <a:srgbClr val="8B2E32"/>
                </a:solidFill>
                <a:latin typeface="微软雅黑"/>
                <a:ea typeface="微软雅黑"/>
                <a:cs typeface="微软雅黑"/>
              </a:rPr>
              <a:t>请填写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17320" y="1938528"/>
            <a:ext cx="2331720" cy="13716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084831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5E544C"/>
                </a:solidFill>
                <a:latin typeface="微软雅黑"/>
                <a:ea typeface="微软雅黑"/>
                <a:cs typeface="微软雅黑"/>
              </a:rPr>
              <a:t>性别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2084831"/>
            <a:ext cx="128016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8B2E32"/>
                </a:solidFill>
                <a:latin typeface="微软雅黑"/>
                <a:ea typeface="微软雅黑"/>
                <a:cs typeface="微软雅黑"/>
              </a:rPr>
              <a:t>请填写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14400" y="2359151"/>
            <a:ext cx="1243584" cy="9144"/>
          </a:xfrm>
          <a:prstGeom prst="rect">
            <a:avLst/>
          </a:prstGeom>
          <a:solidFill>
            <a:srgbClr val="E4D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212848" y="2084831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5E544C"/>
                </a:solidFill>
                <a:latin typeface="微软雅黑"/>
                <a:ea typeface="微软雅黑"/>
                <a:cs typeface="微软雅黑"/>
              </a:rPr>
              <a:t>民族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70048" y="2084831"/>
            <a:ext cx="132588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8B2E32"/>
                </a:solidFill>
                <a:latin typeface="微软雅黑"/>
                <a:ea typeface="微软雅黑"/>
                <a:cs typeface="微软雅黑"/>
              </a:rPr>
              <a:t>请填写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70048" y="2359151"/>
            <a:ext cx="1289304" cy="9144"/>
          </a:xfrm>
          <a:prstGeom prst="rect">
            <a:avLst/>
          </a:prstGeom>
          <a:solidFill>
            <a:srgbClr val="E4D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245059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5E544C"/>
                </a:solidFill>
                <a:latin typeface="微软雅黑"/>
                <a:ea typeface="微软雅黑"/>
                <a:cs typeface="微软雅黑"/>
              </a:rPr>
              <a:t>专业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2450592"/>
            <a:ext cx="128016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8B2E32"/>
                </a:solidFill>
                <a:latin typeface="微软雅黑"/>
                <a:ea typeface="微软雅黑"/>
                <a:cs typeface="微软雅黑"/>
              </a:rPr>
              <a:t>请填写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2724912"/>
            <a:ext cx="1243584" cy="9144"/>
          </a:xfrm>
          <a:prstGeom prst="rect">
            <a:avLst/>
          </a:prstGeom>
          <a:solidFill>
            <a:srgbClr val="E4D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12848" y="2450592"/>
            <a:ext cx="45720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5E544C"/>
                </a:solidFill>
                <a:latin typeface="微软雅黑"/>
                <a:ea typeface="微软雅黑"/>
                <a:cs typeface="微软雅黑"/>
              </a:rPr>
              <a:t>面貌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670048" y="2450592"/>
            <a:ext cx="132588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中共党员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70048" y="2724912"/>
            <a:ext cx="1289304" cy="9144"/>
          </a:xfrm>
          <a:prstGeom prst="rect">
            <a:avLst/>
          </a:prstGeom>
          <a:solidFill>
            <a:srgbClr val="E4D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438912" y="2907792"/>
            <a:ext cx="3566160" cy="1627632"/>
          </a:xfrm>
          <a:prstGeom prst="roundRect">
            <a:avLst>
              <a:gd name="adj" fmla="val 8000"/>
            </a:avLst>
          </a:prstGeom>
          <a:solidFill>
            <a:srgbClr val="F8E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8912" y="2907792"/>
            <a:ext cx="73152" cy="1627632"/>
          </a:xfrm>
          <a:prstGeom prst="rect">
            <a:avLst/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2980944"/>
            <a:ext cx="320040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 lang="zh-CN" altLang="en-US">
                <a:solidFill>
                  <a:srgbClr val="6E1422"/>
                </a:solidFill>
                <a:latin typeface="微软雅黑"/>
                <a:ea typeface="微软雅黑"/>
                <a:cs typeface="微软雅黑"/>
              </a:rPr>
              <a:t>党内经历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3291840"/>
            <a:ext cx="96012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5E544C"/>
                </a:solidFill>
                <a:latin typeface="微软雅黑"/>
                <a:ea typeface="微软雅黑"/>
                <a:cs typeface="微软雅黑"/>
              </a:rPr>
              <a:t>入党时间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600200" y="3291840"/>
            <a:ext cx="224028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8B2E32"/>
                </a:solidFill>
                <a:latin typeface="微软雅黑"/>
                <a:ea typeface="微软雅黑"/>
                <a:cs typeface="微软雅黑"/>
              </a:rPr>
              <a:t>请填写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600200" y="3566160"/>
            <a:ext cx="2203704" cy="9144"/>
          </a:xfrm>
          <a:prstGeom prst="rect">
            <a:avLst/>
          </a:prstGeom>
          <a:solidFill>
            <a:srgbClr val="E4D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3694176"/>
            <a:ext cx="96012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5E544C"/>
                </a:solidFill>
                <a:latin typeface="微软雅黑"/>
                <a:ea typeface="微软雅黑"/>
                <a:cs typeface="微软雅黑"/>
              </a:rPr>
              <a:t>转正时间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600200" y="3694176"/>
            <a:ext cx="224028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8B2E32"/>
                </a:solidFill>
                <a:latin typeface="微软雅黑"/>
                <a:ea typeface="微软雅黑"/>
                <a:cs typeface="微软雅黑"/>
              </a:rPr>
              <a:t>请填写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600200" y="3968496"/>
            <a:ext cx="2203704" cy="9144"/>
          </a:xfrm>
          <a:prstGeom prst="rect">
            <a:avLst/>
          </a:prstGeom>
          <a:solidFill>
            <a:srgbClr val="E4D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4096512"/>
            <a:ext cx="96012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 lang="zh-CN" altLang="en-US">
                <a:solidFill>
                  <a:srgbClr val="5E544C"/>
                </a:solidFill>
                <a:latin typeface="微软雅黑"/>
                <a:ea typeface="微软雅黑"/>
                <a:cs typeface="微软雅黑"/>
              </a:rPr>
              <a:t>曾任职务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00200" y="4096512"/>
            <a:ext cx="2240280" cy="274320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8E1B2C"/>
                </a:solidFill>
                <a:latin typeface="微软雅黑"/>
                <a:ea typeface="微软雅黑"/>
                <a:cs typeface="微软雅黑"/>
              </a:rPr>
              <a:t>班级组织委员</a:t>
            </a:r>
          </a:p>
        </p:txBody>
      </p:sp>
      <p:sp>
        <p:nvSpPr>
          <p:cNvPr id="40" name="Rectangle 39"/>
          <p:cNvSpPr/>
          <p:nvPr/>
        </p:nvSpPr>
        <p:spPr>
          <a:xfrm>
            <a:off x="1600200" y="4370832"/>
            <a:ext cx="2203704" cy="9144"/>
          </a:xfrm>
          <a:prstGeom prst="rect">
            <a:avLst/>
          </a:prstGeom>
          <a:solidFill>
            <a:srgbClr val="E4D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4325112" y="1147572"/>
            <a:ext cx="7589520" cy="1755648"/>
          </a:xfrm>
          <a:prstGeom prst="roundRect">
            <a:avLst>
              <a:gd name="adj" fmla="val 5000"/>
            </a:avLst>
          </a:prstGeom>
          <a:solidFill>
            <a:srgbClr val="E3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4297680" y="1115568"/>
            <a:ext cx="7589520" cy="1755648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480560" y="1271016"/>
            <a:ext cx="68580" cy="201168"/>
          </a:xfrm>
          <a:prstGeom prst="rect">
            <a:avLst/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08576" y="1225296"/>
            <a:ext cx="7095744" cy="310896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6E1422"/>
                </a:solidFill>
                <a:latin typeface="微软雅黑"/>
                <a:ea typeface="微软雅黑"/>
                <a:cs typeface="微软雅黑"/>
              </a:rPr>
              <a:t>二、曾任班级组织委员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62272" y="1572768"/>
            <a:ext cx="7269480" cy="1170432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我曾担任班级组织委员。任职期间，协助班级做好推优和入党积极分子的培养联系，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了解同学思想状况，把组织交办的事项按时办完。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这段经历让我熟悉发展党员的基本程序，也让我习惯按程序办事、对同学负责。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325112" y="3012948"/>
            <a:ext cx="7589520" cy="1719072"/>
          </a:xfrm>
          <a:prstGeom prst="roundRect">
            <a:avLst>
              <a:gd name="adj" fmla="val 5000"/>
            </a:avLst>
          </a:prstGeom>
          <a:solidFill>
            <a:srgbClr val="E3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4297680" y="2980944"/>
            <a:ext cx="7589520" cy="1719072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480560" y="3136391"/>
            <a:ext cx="68580" cy="201168"/>
          </a:xfrm>
          <a:prstGeom prst="rect">
            <a:avLst/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608576" y="3090672"/>
            <a:ext cx="7095744" cy="310896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6E1422"/>
                </a:solidFill>
                <a:latin typeface="微软雅黑"/>
                <a:ea typeface="微软雅黑"/>
                <a:cs typeface="微软雅黑"/>
              </a:rPr>
              <a:t>三、为何竞选副书记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462272" y="3438144"/>
            <a:ext cx="7269480" cy="1133856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我已加入中国共产党。竞选党支部副书记，是希望在书记带领下，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把班级组织委员的经验用到支部。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如果当选，我会协助做好党员发展、教育和管理，把组织生活落到实处，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及时把同学的情况向支部反映。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320040" y="4860036"/>
            <a:ext cx="3749039" cy="1444752"/>
          </a:xfrm>
          <a:prstGeom prst="roundRect">
            <a:avLst>
              <a:gd name="adj" fmla="val 5000"/>
            </a:avLst>
          </a:prstGeom>
          <a:solidFill>
            <a:srgbClr val="E3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292608" y="4828032"/>
            <a:ext cx="3749039" cy="1444752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292608" y="4828032"/>
            <a:ext cx="3749039" cy="73152"/>
          </a:xfrm>
          <a:prstGeom prst="roundRect">
            <a:avLst>
              <a:gd name="adj" fmla="val 40000"/>
            </a:avLst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92608" y="4873752"/>
            <a:ext cx="3749039" cy="54864"/>
          </a:xfrm>
          <a:prstGeom prst="rect">
            <a:avLst/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38912" y="5029200"/>
            <a:ext cx="3456432" cy="329184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6E1422"/>
                </a:solidFill>
                <a:latin typeface="微软雅黑"/>
                <a:ea typeface="微软雅黑"/>
                <a:cs typeface="微软雅黑"/>
              </a:rPr>
              <a:t>四、组织委员给我的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5303520"/>
            <a:ext cx="3419856" cy="841248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熟悉推优和发展党员的程序。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交办的事愿意跟到办完。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201668" y="4860036"/>
            <a:ext cx="3749039" cy="1444752"/>
          </a:xfrm>
          <a:prstGeom prst="roundRect">
            <a:avLst>
              <a:gd name="adj" fmla="val 5000"/>
            </a:avLst>
          </a:prstGeom>
          <a:solidFill>
            <a:srgbClr val="E3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4174235" y="4828032"/>
            <a:ext cx="3749039" cy="1444752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4174235" y="4828032"/>
            <a:ext cx="3749039" cy="73152"/>
          </a:xfrm>
          <a:prstGeom prst="roundRect">
            <a:avLst>
              <a:gd name="adj" fmla="val 40000"/>
            </a:avLst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174235" y="4873752"/>
            <a:ext cx="3749039" cy="54864"/>
          </a:xfrm>
          <a:prstGeom prst="rect">
            <a:avLst/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320540" y="5029200"/>
            <a:ext cx="3456432" cy="329184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6E1422"/>
                </a:solidFill>
                <a:latin typeface="微软雅黑"/>
                <a:ea typeface="微软雅黑"/>
                <a:cs typeface="微软雅黑"/>
              </a:rPr>
              <a:t>还需要补的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338827" y="5303520"/>
            <a:ext cx="3419856" cy="841248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主动沟通还不够，理论学习要更系统。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支部工作不能只靠班级经验。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8083295" y="4860036"/>
            <a:ext cx="3749039" cy="1444752"/>
          </a:xfrm>
          <a:prstGeom prst="roundRect">
            <a:avLst>
              <a:gd name="adj" fmla="val 5000"/>
            </a:avLst>
          </a:prstGeom>
          <a:solidFill>
            <a:srgbClr val="E3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ounded Rectangle 63"/>
          <p:cNvSpPr/>
          <p:nvPr/>
        </p:nvSpPr>
        <p:spPr>
          <a:xfrm>
            <a:off x="8055863" y="4828032"/>
            <a:ext cx="3749039" cy="1444752"/>
          </a:xfrm>
          <a:prstGeom prst="roundRect">
            <a:avLst>
              <a:gd name="adj" fmla="val 5000"/>
            </a:avLst>
          </a:prstGeom>
          <a:solidFill>
            <a:srgbClr val="FF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055863" y="4828032"/>
            <a:ext cx="3749039" cy="73152"/>
          </a:xfrm>
          <a:prstGeom prst="roundRect">
            <a:avLst>
              <a:gd name="adj" fmla="val 40000"/>
            </a:avLst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8055863" y="4873752"/>
            <a:ext cx="3749039" cy="54864"/>
          </a:xfrm>
          <a:prstGeom prst="rect">
            <a:avLst/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202167" y="5029200"/>
            <a:ext cx="3456432" cy="329184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 lang="zh-CN" altLang="en-US">
                <a:solidFill>
                  <a:srgbClr val="6E1422"/>
                </a:solidFill>
                <a:latin typeface="微软雅黑"/>
                <a:ea typeface="微软雅黑"/>
                <a:cs typeface="微软雅黑"/>
              </a:rPr>
              <a:t>如果当选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20455" y="5303520"/>
            <a:ext cx="3419856" cy="841248"/>
          </a:xfrm>
          <a:prstGeom prst="rect">
            <a:avLst/>
          </a:prstGeom>
          <a:noFill/>
        </p:spPr>
        <p:txBody>
          <a:bodyPr wrap="square" lIns="18288" rIns="18288" tIns="0" bIns="0"/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协助书记抓好发展党员和组织生活。</a:t>
            </a:r>
          </a:p>
          <a:p>
            <a:pPr algn="l">
              <a:lnSpc>
                <a:spcPct val="108000"/>
              </a:lnSpc>
              <a:spcBef>
                <a:spcPts val="200"/>
              </a:spcBef>
              <a:spcAft>
                <a:spcPts val="0"/>
              </a:spcAft>
            </a:pPr>
            <a:r>
              <a:rPr sz="1500" b="0" i="0" lang="zh-CN" altLang="en-US">
                <a:solidFill>
                  <a:srgbClr val="2C2622"/>
                </a:solidFill>
                <a:latin typeface="微软雅黑"/>
                <a:ea typeface="微软雅黑"/>
                <a:cs typeface="微软雅黑"/>
              </a:rPr>
              <a:t>自己先做到，再带动身边同学。</a:t>
            </a:r>
          </a:p>
        </p:txBody>
      </p:sp>
      <p:sp>
        <p:nvSpPr>
          <p:cNvPr id="69" name="Rectangle 68"/>
          <p:cNvSpPr/>
          <p:nvPr/>
        </p:nvSpPr>
        <p:spPr>
          <a:xfrm>
            <a:off x="0" y="6473952"/>
            <a:ext cx="12191695" cy="384048"/>
          </a:xfrm>
          <a:prstGeom prst="rect">
            <a:avLst/>
          </a:prstGeom>
          <a:solidFill>
            <a:srgbClr val="8E1B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0" y="6473952"/>
            <a:ext cx="12191695" cy="13716"/>
          </a:xfrm>
          <a:prstGeom prst="rect">
            <a:avLst/>
          </a:prstGeom>
          <a:solidFill>
            <a:srgbClr val="C4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365760" y="6528816"/>
            <a:ext cx="11460175" cy="292608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 lang="zh-CN" altLang="en-US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请同志们批评监督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竞选副书记自我介绍</dc:title>
  <dc:subject>党支部副书记竞选一页自我介绍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支部选举</cp:category>
</cp:coreProperties>
</file>