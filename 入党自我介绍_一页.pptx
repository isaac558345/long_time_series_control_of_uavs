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讲解稿（大约两分钟）。带【】的句子，请改成你自己的事实后再讲。不要照着空着的“请填写”直接念。</a:t>
            </a:r>
          </a:p>
          <a:p/>
          <a:p>
            <a:r>
              <a:t>各位同志：</a:t>
            </a:r>
          </a:p>
          <a:p>
            <a:r>
              <a:t>我申请加入中国共产党，先用两分钟介绍自己。</a:t>
            </a:r>
          </a:p>
          <a:p/>
          <a:p>
            <a:r>
              <a:t>我叫【姓名】，【性别】，【民族】，【出生年月】出生，籍贯【籍贯】。现在的学历和专业是【学历、学校、专业或工作单位、职务】，政治面貌是【共青团员或群众，按实填写】。</a:t>
            </a:r>
          </a:p>
          <a:p/>
          <a:p>
            <a:r>
              <a:t>家庭主要成员我简要说明：【父亲、母亲，以及有没有其他需要向组织说明的主要社会关系；写明称谓、工作或生活状况、政治面貌】。</a:t>
            </a:r>
          </a:p>
          <a:p/>
          <a:p>
            <a:r>
              <a:t>个人简历我按时间说：</a:t>
            </a:r>
          </a:p>
          <a:p>
            <a:r>
              <a:t>【年月至年月，在哪所学校读书或在哪个单位做什么】。</a:t>
            </a:r>
          </a:p>
          <a:p>
            <a:r>
              <a:t>【年月至年月，下一段】。</a:t>
            </a:r>
          </a:p>
          <a:p>
            <a:r>
              <a:t>【年月至今，现在这段学习或工作】。</a:t>
            </a:r>
          </a:p>
          <a:p/>
          <a:p>
            <a:r>
              <a:t>我对党的认识是：中国共产党是中国工人阶级的先锋队，同时是中国人民和中华民族的先锋队。党的初心和使命，是为中国人民谋幸福、为中华民族谋复兴。入党对我来说是郑重的政治选择。我愿意在思想上认同，在行动上靠拢，并长期接受组织的教育和考验。</a:t>
            </a:r>
          </a:p>
          <a:p/>
          <a:p>
            <a:r>
              <a:t>我在学习和工作中，习惯把事情做扎实，也明白个人进步离不开集体。我申请入党，是希望按党员标准要求自己：读原著、学原文、悟原理，在专业上练好本领，在集体中主动担当，自觉接受组织考察。</a:t>
            </a:r>
          </a:p>
          <a:p/>
          <a:p>
            <a:r>
              <a:t>对照自己：优点是能沉下心把一件事做完，和身边的人合作时愿意负责到底。不足是有时陷在细节里，主动沟通不够，党的理论学习还不够系统。接下来我会读原著、学原文、悟原理，专业上继续下功夫，在集体中多担当。</a:t>
            </a:r>
          </a:p>
          <a:p/>
          <a:p>
            <a:r>
              <a:t>请组织和同志们批评帮助。我的介绍完了，谢谢大家。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5603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58291"/>
            <a:ext cx="12191695" cy="10972"/>
          </a:xfrm>
          <a:prstGeom prst="rect">
            <a:avLst/>
          </a:prstGeom>
          <a:solidFill>
            <a:srgbClr val="6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46304"/>
            <a:ext cx="7498079" cy="475488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 lang="zh-CN" altLang="en-US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入党自我介绍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603504"/>
            <a:ext cx="7498079" cy="25603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lang="zh-CN" altLang="en-US">
                <a:solidFill>
                  <a:srgbClr val="C4A15A"/>
                </a:solidFill>
                <a:latin typeface="微软雅黑"/>
                <a:ea typeface="微软雅黑"/>
                <a:cs typeface="微软雅黑"/>
              </a:rPr>
              <a:t>发言顺序：基本情况　→　对党的认识　→　入党动机　→　优点、不足、打算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74320"/>
            <a:ext cx="3291840" cy="4389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000" b="1" i="0" lang="zh-CN" altLang="en-US">
                <a:solidFill>
                  <a:srgbClr val="C4A15A"/>
                </a:solidFill>
                <a:latin typeface="微软雅黑"/>
                <a:ea typeface="微软雅黑"/>
                <a:cs typeface="微软雅黑"/>
              </a:rPr>
              <a:t>申请入党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147572"/>
            <a:ext cx="3858768" cy="3584448"/>
          </a:xfrm>
          <a:prstGeom prst="roundRect">
            <a:avLst>
              <a:gd name="adj" fmla="val 5000"/>
            </a:avLst>
          </a:prstGeom>
          <a:solidFill>
            <a:srgbClr val="E3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" y="1115568"/>
            <a:ext cx="3858768" cy="3584448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2608" y="1115568"/>
            <a:ext cx="3858768" cy="384048"/>
          </a:xfrm>
          <a:prstGeom prst="roundRect">
            <a:avLst>
              <a:gd name="adj" fmla="val 8000"/>
            </a:avLst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2608" y="1371600"/>
            <a:ext cx="3858768" cy="128016"/>
          </a:xfrm>
          <a:prstGeom prst="rect">
            <a:avLst/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1161288"/>
            <a:ext cx="3566160" cy="310896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lang="zh-CN" altLang="en-US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一、基本情况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1627632"/>
            <a:ext cx="1225296" cy="1591056"/>
          </a:xfrm>
          <a:prstGeom prst="roundRect">
            <a:avLst>
              <a:gd name="adj" fmla="val 6000"/>
            </a:avLst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1664208"/>
            <a:ext cx="1152144" cy="1517904"/>
          </a:xfrm>
          <a:prstGeom prst="roundRect">
            <a:avLst>
              <a:gd name="adj" fmla="val 5000"/>
            </a:avLst>
          </a:prstGeom>
          <a:solidFill>
            <a:srgbClr val="F3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029968"/>
            <a:ext cx="1152144" cy="640080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 lang="zh-CN" altLang="en-US">
                <a:solidFill>
                  <a:srgbClr val="8C6A2F"/>
                </a:solidFill>
                <a:latin typeface="微软雅黑"/>
                <a:ea typeface="微软雅黑"/>
                <a:cs typeface="微软雅黑"/>
              </a:rPr>
              <a:t>照片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00" b="0" i="0" lang="zh-CN" altLang="en-US">
                <a:solidFill>
                  <a:srgbClr val="5E544C"/>
                </a:solidFill>
                <a:latin typeface="微软雅黑"/>
                <a:ea typeface="微软雅黑"/>
                <a:cs typeface="微软雅黑"/>
              </a:rPr>
              <a:t>一寸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0512" y="1627632"/>
            <a:ext cx="2148840" cy="219456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lang="zh-CN" altLang="en-US">
                <a:solidFill>
                  <a:srgbClr val="5E544C"/>
                </a:solidFill>
                <a:latin typeface="微软雅黑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0512" y="1828800"/>
            <a:ext cx="2148840" cy="384048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 lang="zh-CN" altLang="en-US">
                <a:solidFill>
                  <a:srgbClr val="8B2E32"/>
                </a:solidFill>
                <a:latin typeface="微软雅黑"/>
                <a:ea typeface="微软雅黑"/>
                <a:cs typeface="微软雅黑"/>
              </a:rPr>
              <a:t>请填写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10512" y="2249424"/>
            <a:ext cx="2011680" cy="13716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10512" y="2359152"/>
            <a:ext cx="2194560" cy="640080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申请加入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1" i="0" lang="zh-CN" altLang="en-US">
                <a:solidFill>
                  <a:srgbClr val="8E1B2C"/>
                </a:solidFill>
                <a:latin typeface="微软雅黑"/>
                <a:ea typeface="微软雅黑"/>
                <a:cs typeface="微软雅黑"/>
              </a:rPr>
              <a:t>中国共产党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73552"/>
            <a:ext cx="438912" cy="25603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lang="zh-CN" altLang="en-US">
                <a:solidFill>
                  <a:srgbClr val="5E544C"/>
                </a:solidFill>
                <a:latin typeface="微软雅黑"/>
                <a:ea typeface="微软雅黑"/>
                <a:cs typeface="微软雅黑"/>
              </a:rPr>
              <a:t>性别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3273552"/>
            <a:ext cx="1252728" cy="25603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lang="zh-CN" altLang="en-US">
                <a:solidFill>
                  <a:srgbClr val="8B2E32"/>
                </a:solidFill>
                <a:latin typeface="微软雅黑"/>
                <a:ea typeface="微软雅黑"/>
                <a:cs typeface="微软雅黑"/>
              </a:rPr>
              <a:t>请填写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6112" y="3529584"/>
            <a:ext cx="1216152" cy="9144"/>
          </a:xfrm>
          <a:prstGeom prst="rect">
            <a:avLst/>
          </a:prstGeom>
          <a:solidFill>
            <a:srgbClr val="E4D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12848" y="3273552"/>
            <a:ext cx="438912" cy="25603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lang="zh-CN" altLang="en-US">
                <a:solidFill>
                  <a:srgbClr val="5E544C"/>
                </a:solidFill>
                <a:latin typeface="微软雅黑"/>
                <a:ea typeface="微软雅黑"/>
                <a:cs typeface="微软雅黑"/>
              </a:rPr>
              <a:t>民族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3273552"/>
            <a:ext cx="1344168" cy="25603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lang="zh-CN" altLang="en-US">
                <a:solidFill>
                  <a:srgbClr val="8B2E32"/>
                </a:solidFill>
                <a:latin typeface="微软雅黑"/>
                <a:ea typeface="微软雅黑"/>
                <a:cs typeface="微软雅黑"/>
              </a:rPr>
              <a:t>请填写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3529584"/>
            <a:ext cx="1307592" cy="9144"/>
          </a:xfrm>
          <a:prstGeom prst="rect">
            <a:avLst/>
          </a:prstGeom>
          <a:solidFill>
            <a:srgbClr val="E4D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94176"/>
            <a:ext cx="438912" cy="25603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lang="zh-CN" altLang="en-US">
                <a:solidFill>
                  <a:srgbClr val="5E544C"/>
                </a:solidFill>
                <a:latin typeface="微软雅黑"/>
                <a:ea typeface="微软雅黑"/>
                <a:cs typeface="微软雅黑"/>
              </a:rPr>
              <a:t>出生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3694176"/>
            <a:ext cx="1252728" cy="25603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lang="zh-CN" altLang="en-US">
                <a:solidFill>
                  <a:srgbClr val="8B2E32"/>
                </a:solidFill>
                <a:latin typeface="微软雅黑"/>
                <a:ea typeface="微软雅黑"/>
                <a:cs typeface="微软雅黑"/>
              </a:rPr>
              <a:t>请填写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112" y="3950208"/>
            <a:ext cx="1216152" cy="9144"/>
          </a:xfrm>
          <a:prstGeom prst="rect">
            <a:avLst/>
          </a:prstGeom>
          <a:solidFill>
            <a:srgbClr val="E4D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12848" y="3694176"/>
            <a:ext cx="438912" cy="25603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lang="zh-CN" altLang="en-US">
                <a:solidFill>
                  <a:srgbClr val="5E544C"/>
                </a:solidFill>
                <a:latin typeface="微软雅黑"/>
                <a:ea typeface="微软雅黑"/>
                <a:cs typeface="微软雅黑"/>
              </a:rPr>
              <a:t>籍贯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3694176"/>
            <a:ext cx="1344168" cy="25603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lang="zh-CN" altLang="en-US">
                <a:solidFill>
                  <a:srgbClr val="8B2E32"/>
                </a:solidFill>
                <a:latin typeface="微软雅黑"/>
                <a:ea typeface="微软雅黑"/>
                <a:cs typeface="微软雅黑"/>
              </a:rPr>
              <a:t>请填写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51760" y="3950208"/>
            <a:ext cx="1307592" cy="9144"/>
          </a:xfrm>
          <a:prstGeom prst="rect">
            <a:avLst/>
          </a:prstGeom>
          <a:solidFill>
            <a:srgbClr val="E4D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114800"/>
            <a:ext cx="438912" cy="25603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lang="zh-CN" altLang="en-US">
                <a:solidFill>
                  <a:srgbClr val="5E544C"/>
                </a:solidFill>
                <a:latin typeface="微软雅黑"/>
                <a:ea typeface="微软雅黑"/>
                <a:cs typeface="微软雅黑"/>
              </a:rPr>
              <a:t>专业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4114800"/>
            <a:ext cx="1252728" cy="25603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lang="zh-CN" altLang="en-US">
                <a:solidFill>
                  <a:srgbClr val="8B2E32"/>
                </a:solidFill>
                <a:latin typeface="微软雅黑"/>
                <a:ea typeface="微软雅黑"/>
                <a:cs typeface="微软雅黑"/>
              </a:rPr>
              <a:t>请填写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6112" y="4370832"/>
            <a:ext cx="1216152" cy="9144"/>
          </a:xfrm>
          <a:prstGeom prst="rect">
            <a:avLst/>
          </a:prstGeom>
          <a:solidFill>
            <a:srgbClr val="E4D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12848" y="4114800"/>
            <a:ext cx="713232" cy="25603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lang="zh-CN" altLang="en-US">
                <a:solidFill>
                  <a:srgbClr val="5E544C"/>
                </a:solidFill>
                <a:latin typeface="微软雅黑"/>
                <a:ea typeface="微软雅黑"/>
                <a:cs typeface="微软雅黑"/>
              </a:rPr>
              <a:t>政治面貌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4114800"/>
            <a:ext cx="1069848" cy="25603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lang="zh-CN" altLang="en-US">
                <a:solidFill>
                  <a:srgbClr val="8B2E32"/>
                </a:solidFill>
                <a:latin typeface="微软雅黑"/>
                <a:ea typeface="微软雅黑"/>
                <a:cs typeface="微软雅黑"/>
              </a:rPr>
              <a:t>请填写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26080" y="4370832"/>
            <a:ext cx="1033271" cy="9144"/>
          </a:xfrm>
          <a:prstGeom prst="rect">
            <a:avLst/>
          </a:prstGeom>
          <a:solidFill>
            <a:srgbClr val="E4D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325112" y="1147572"/>
            <a:ext cx="7589520" cy="1755648"/>
          </a:xfrm>
          <a:prstGeom prst="roundRect">
            <a:avLst>
              <a:gd name="adj" fmla="val 5000"/>
            </a:avLst>
          </a:prstGeom>
          <a:solidFill>
            <a:srgbClr val="E3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297680" y="1115568"/>
            <a:ext cx="7589520" cy="1755648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80560" y="1271016"/>
            <a:ext cx="68580" cy="201168"/>
          </a:xfrm>
          <a:prstGeom prst="rect">
            <a:avLst/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08576" y="1225296"/>
            <a:ext cx="7095744" cy="310896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lang="zh-CN" altLang="en-US">
                <a:solidFill>
                  <a:srgbClr val="6E1422"/>
                </a:solidFill>
                <a:latin typeface="微软雅黑"/>
                <a:ea typeface="微软雅黑"/>
                <a:cs typeface="微软雅黑"/>
              </a:rPr>
              <a:t>二、对党的认识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62272" y="1572768"/>
            <a:ext cx="7269480" cy="117043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中国共产党是中国工人阶级的先锋队，同时是中国人民和中华民族的先锋队。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党的初心和使命，是为中国人民谋幸福、为中华民族谋复兴。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入党是郑重的政治选择。我愿在思想上认同，在行动上靠拢，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并长期接受组织的教育和考验。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25112" y="3012948"/>
            <a:ext cx="7589520" cy="1719072"/>
          </a:xfrm>
          <a:prstGeom prst="roundRect">
            <a:avLst>
              <a:gd name="adj" fmla="val 5000"/>
            </a:avLst>
          </a:prstGeom>
          <a:solidFill>
            <a:srgbClr val="E3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297680" y="2980944"/>
            <a:ext cx="7589520" cy="1719072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480560" y="3136391"/>
            <a:ext cx="68580" cy="201168"/>
          </a:xfrm>
          <a:prstGeom prst="rect">
            <a:avLst/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08576" y="3090672"/>
            <a:ext cx="7095744" cy="310896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lang="zh-CN" altLang="en-US">
                <a:solidFill>
                  <a:srgbClr val="6E1422"/>
                </a:solidFill>
                <a:latin typeface="微软雅黑"/>
                <a:ea typeface="微软雅黑"/>
                <a:cs typeface="微软雅黑"/>
              </a:rPr>
              <a:t>三、入党动机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62272" y="3438144"/>
            <a:ext cx="7269480" cy="1133856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我在学习和工作中，习惯把事情做扎实，也明白个人进步离不开集体。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我申请入党，是希望按党员标准要求自己：读原著、学原文、悟原理，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在专业上练好本领，在集体中主动担当，自觉接受组织考察。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0040" y="4860036"/>
            <a:ext cx="3749039" cy="1444752"/>
          </a:xfrm>
          <a:prstGeom prst="roundRect">
            <a:avLst>
              <a:gd name="adj" fmla="val 5000"/>
            </a:avLst>
          </a:prstGeom>
          <a:solidFill>
            <a:srgbClr val="E3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92608" y="4828032"/>
            <a:ext cx="3749039" cy="1444752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92608" y="4828032"/>
            <a:ext cx="3749039" cy="73152"/>
          </a:xfrm>
          <a:prstGeom prst="roundRect">
            <a:avLst>
              <a:gd name="adj" fmla="val 40000"/>
            </a:avLst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92608" y="4873752"/>
            <a:ext cx="3749039" cy="54864"/>
          </a:xfrm>
          <a:prstGeom prst="rect">
            <a:avLst/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8912" y="5029200"/>
            <a:ext cx="3456432" cy="329184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lang="zh-CN" altLang="en-US">
                <a:solidFill>
                  <a:srgbClr val="6E1422"/>
                </a:solidFill>
                <a:latin typeface="微软雅黑"/>
                <a:ea typeface="微软雅黑"/>
                <a:cs typeface="微软雅黑"/>
              </a:rPr>
              <a:t>四、优点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303520"/>
            <a:ext cx="3419856" cy="841248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能沉下心，把一件事做完。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和身边的人合作时，愿意负责到底。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201668" y="4860036"/>
            <a:ext cx="3749039" cy="1444752"/>
          </a:xfrm>
          <a:prstGeom prst="roundRect">
            <a:avLst>
              <a:gd name="adj" fmla="val 5000"/>
            </a:avLst>
          </a:prstGeom>
          <a:solidFill>
            <a:srgbClr val="E3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174235" y="4828032"/>
            <a:ext cx="3749039" cy="1444752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174235" y="4828032"/>
            <a:ext cx="3749039" cy="73152"/>
          </a:xfrm>
          <a:prstGeom prst="roundRect">
            <a:avLst>
              <a:gd name="adj" fmla="val 40000"/>
            </a:avLst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74235" y="4873752"/>
            <a:ext cx="3749039" cy="54864"/>
          </a:xfrm>
          <a:prstGeom prst="rect">
            <a:avLst/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20540" y="5029200"/>
            <a:ext cx="3456432" cy="329184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lang="zh-CN" altLang="en-US">
                <a:solidFill>
                  <a:srgbClr val="6E1422"/>
                </a:solidFill>
                <a:latin typeface="微软雅黑"/>
                <a:ea typeface="微软雅黑"/>
                <a:cs typeface="微软雅黑"/>
              </a:rPr>
              <a:t>不足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38827" y="5303520"/>
            <a:ext cx="3419856" cy="841248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有时陷在细节里，主动沟通不够。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党的理论学习还不够系统。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83295" y="4860036"/>
            <a:ext cx="3749039" cy="1444752"/>
          </a:xfrm>
          <a:prstGeom prst="roundRect">
            <a:avLst>
              <a:gd name="adj" fmla="val 5000"/>
            </a:avLst>
          </a:prstGeom>
          <a:solidFill>
            <a:srgbClr val="E3D9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8055863" y="4828032"/>
            <a:ext cx="3749039" cy="1444752"/>
          </a:xfrm>
          <a:prstGeom prst="roundRect">
            <a:avLst>
              <a:gd name="adj" fmla="val 5000"/>
            </a:avLst>
          </a:prstGeom>
          <a:solidFill>
            <a:srgbClr val="FFF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055863" y="4828032"/>
            <a:ext cx="3749039" cy="73152"/>
          </a:xfrm>
          <a:prstGeom prst="roundRect">
            <a:avLst>
              <a:gd name="adj" fmla="val 40000"/>
            </a:avLst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55863" y="4873752"/>
            <a:ext cx="3749039" cy="54864"/>
          </a:xfrm>
          <a:prstGeom prst="rect">
            <a:avLst/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02167" y="5029200"/>
            <a:ext cx="3456432" cy="329184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lang="zh-CN" altLang="en-US">
                <a:solidFill>
                  <a:srgbClr val="6E1422"/>
                </a:solidFill>
                <a:latin typeface="微软雅黑"/>
                <a:ea typeface="微软雅黑"/>
                <a:cs typeface="微软雅黑"/>
              </a:rPr>
              <a:t>打算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0455" y="5303520"/>
            <a:ext cx="3419856" cy="841248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读原著、学原文、悟原理。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0" i="0" lang="zh-CN" altLang="en-US">
                <a:solidFill>
                  <a:srgbClr val="2C2622"/>
                </a:solidFill>
                <a:latin typeface="微软雅黑"/>
                <a:ea typeface="微软雅黑"/>
                <a:cs typeface="微软雅黑"/>
              </a:rPr>
              <a:t>专业上练好本领，在集体中多担当。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8E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6473952"/>
            <a:ext cx="12191695" cy="13716"/>
          </a:xfrm>
          <a:prstGeom prst="rect">
            <a:avLst/>
          </a:prstGeom>
          <a:solidFill>
            <a:srgbClr val="C4A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28816"/>
            <a:ext cx="11460175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 lang="zh-CN" altLang="en-US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恳请组织和同志们批评帮助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入党自我介绍</dc:title>
  <dc:subject>申请入党人一页自我介绍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支部交流</cp:category>
</cp:coreProperties>
</file>